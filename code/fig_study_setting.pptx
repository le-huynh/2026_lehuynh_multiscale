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8" r:id="rId2"/>
  </p:sldIdLst>
  <p:sldSz cx="9144000" cy="56689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8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D5EB"/>
    <a:srgbClr val="D2ECF6"/>
    <a:srgbClr val="8CCEE8"/>
    <a:srgbClr val="9ED5EC"/>
    <a:srgbClr val="C5E6F3"/>
    <a:srgbClr val="5096BB"/>
    <a:srgbClr val="F6F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39" autoAdjust="0"/>
  </p:normalViewPr>
  <p:slideViewPr>
    <p:cSldViewPr snapToGrid="0">
      <p:cViewPr varScale="1">
        <p:scale>
          <a:sx n="126" d="100"/>
          <a:sy n="126" d="100"/>
        </p:scale>
        <p:origin x="1230" y="120"/>
      </p:cViewPr>
      <p:guideLst>
        <p:guide orient="horz" pos="178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116A3-ABB8-4CE8-B0ED-B501699F2F65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1388" y="1143000"/>
            <a:ext cx="4975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921B24-90C1-44C0-BAA5-5FB81AE524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271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0F2C5-227B-6AED-BD7A-669CACB14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0F154D-4E01-6C6E-768C-089D2AE28C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41388" y="1143000"/>
            <a:ext cx="49752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92C10-7124-49C9-3CDD-BCACD2ECE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B7DFB-9CBD-79E1-C8F7-4EA847E2E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921B24-90C1-44C0-BAA5-5FB81AE5241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354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27768"/>
            <a:ext cx="6858000" cy="1973639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977518"/>
            <a:ext cx="6858000" cy="136868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9C85-B3FD-4903-AB2B-DE9F459448B1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12A-80BA-4A53-883C-107D5822264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490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9C85-B3FD-4903-AB2B-DE9F459448B1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12A-80BA-4A53-883C-107D5822264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516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13305"/>
            <a:ext cx="7886700" cy="235813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793744"/>
            <a:ext cx="7886700" cy="124008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9C85-B3FD-4903-AB2B-DE9F459448B1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12A-80BA-4A53-883C-107D5822264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816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09099"/>
            <a:ext cx="3886200" cy="35969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09099"/>
            <a:ext cx="3886200" cy="35969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9C85-B3FD-4903-AB2B-DE9F459448B1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12A-80BA-4A53-883C-107D5822264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818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1820"/>
            <a:ext cx="7886700" cy="10957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89683"/>
            <a:ext cx="3868340" cy="68106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70746"/>
            <a:ext cx="3868340" cy="30457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389683"/>
            <a:ext cx="3887391" cy="68106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70746"/>
            <a:ext cx="3887391" cy="30457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9C85-B3FD-4903-AB2B-DE9F459448B1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12A-80BA-4A53-883C-107D5822264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38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9C85-B3FD-4903-AB2B-DE9F459448B1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12A-80BA-4A53-883C-107D5822264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704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9C85-B3FD-4903-AB2B-DE9F459448B1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12A-80BA-4A53-883C-107D5822264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580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77931"/>
            <a:ext cx="2949178" cy="132275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16226"/>
            <a:ext cx="4629150" cy="4028638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00689"/>
            <a:ext cx="2949178" cy="315073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9C85-B3FD-4903-AB2B-DE9F459448B1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12A-80BA-4A53-883C-107D5822264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900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77931"/>
            <a:ext cx="2949178" cy="132275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16226"/>
            <a:ext cx="4629150" cy="4028638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00689"/>
            <a:ext cx="2949178" cy="315073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9C85-B3FD-4903-AB2B-DE9F459448B1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12A-80BA-4A53-883C-107D5822264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290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9C85-B3FD-4903-AB2B-DE9F459448B1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12A-80BA-4A53-883C-107D5822264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935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1820"/>
            <a:ext cx="1971675" cy="48041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1820"/>
            <a:ext cx="5800725" cy="48041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9C85-B3FD-4903-AB2B-DE9F459448B1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E12A-80BA-4A53-883C-107D5822264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984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1820"/>
            <a:ext cx="7886700" cy="109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09099"/>
            <a:ext cx="7886700" cy="3596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54289"/>
            <a:ext cx="2057400" cy="301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D29C85-B3FD-4903-AB2B-DE9F459448B1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54289"/>
            <a:ext cx="3086100" cy="301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54289"/>
            <a:ext cx="2057400" cy="301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7EE12A-80BA-4A53-883C-107D5822264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621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558E9-ECD4-4731-3898-D2B2759D7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9D236EE-F534-7133-23E3-F0BFC91FFBB5}"/>
              </a:ext>
            </a:extLst>
          </p:cNvPr>
          <p:cNvCxnSpPr>
            <a:cxnSpLocks/>
          </p:cNvCxnSpPr>
          <p:nvPr/>
        </p:nvCxnSpPr>
        <p:spPr>
          <a:xfrm flipH="1">
            <a:off x="4574813" y="3969866"/>
            <a:ext cx="6096" cy="505903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79FB6346-18E9-7ACF-D80B-E57E539ED3FE}"/>
              </a:ext>
            </a:extLst>
          </p:cNvPr>
          <p:cNvSpPr/>
          <p:nvPr/>
        </p:nvSpPr>
        <p:spPr>
          <a:xfrm>
            <a:off x="3472202" y="240782"/>
            <a:ext cx="2223516" cy="4205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Correlation analysis</a:t>
            </a:r>
          </a:p>
        </p:txBody>
      </p: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EE0F7CF3-7E07-BAC2-2835-D0290A44363F}"/>
              </a:ext>
            </a:extLst>
          </p:cNvPr>
          <p:cNvCxnSpPr>
            <a:cxnSpLocks/>
            <a:endCxn id="65" idx="1"/>
          </p:cNvCxnSpPr>
          <p:nvPr/>
        </p:nvCxnSpPr>
        <p:spPr>
          <a:xfrm rot="5400000" flipH="1" flipV="1">
            <a:off x="1991077" y="-515871"/>
            <a:ext cx="514211" cy="2448045"/>
          </a:xfrm>
          <a:prstGeom prst="bentConnector2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94F57D37-E478-5D94-085C-90FB97CDBFF8}"/>
              </a:ext>
            </a:extLst>
          </p:cNvPr>
          <p:cNvCxnSpPr>
            <a:cxnSpLocks/>
            <a:endCxn id="65" idx="3"/>
          </p:cNvCxnSpPr>
          <p:nvPr/>
        </p:nvCxnSpPr>
        <p:spPr>
          <a:xfrm rot="16200000" flipV="1">
            <a:off x="6593183" y="-446416"/>
            <a:ext cx="514211" cy="2309134"/>
          </a:xfrm>
          <a:prstGeom prst="bentConnector2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F5067E2-2878-0916-93FE-6981A36579F6}"/>
              </a:ext>
            </a:extLst>
          </p:cNvPr>
          <p:cNvCxnSpPr>
            <a:cxnSpLocks/>
          </p:cNvCxnSpPr>
          <p:nvPr/>
        </p:nvCxnSpPr>
        <p:spPr>
          <a:xfrm>
            <a:off x="4571999" y="1808209"/>
            <a:ext cx="3716" cy="612453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858A098-96C4-25F9-30A7-8D097D44C524}"/>
              </a:ext>
            </a:extLst>
          </p:cNvPr>
          <p:cNvCxnSpPr>
            <a:cxnSpLocks/>
          </p:cNvCxnSpPr>
          <p:nvPr/>
        </p:nvCxnSpPr>
        <p:spPr>
          <a:xfrm>
            <a:off x="1024503" y="1820650"/>
            <a:ext cx="1999280" cy="58741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3E65C3E-9313-BD05-275C-6C57621D01F6}"/>
              </a:ext>
            </a:extLst>
          </p:cNvPr>
          <p:cNvCxnSpPr>
            <a:cxnSpLocks/>
          </p:cNvCxnSpPr>
          <p:nvPr/>
        </p:nvCxnSpPr>
        <p:spPr>
          <a:xfrm flipH="1">
            <a:off x="6127654" y="1817782"/>
            <a:ext cx="1882603" cy="59028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86E5495-AF91-5938-3C85-2A7C4AC27629}"/>
              </a:ext>
            </a:extLst>
          </p:cNvPr>
          <p:cNvGrpSpPr/>
          <p:nvPr/>
        </p:nvGrpSpPr>
        <p:grpSpPr>
          <a:xfrm>
            <a:off x="6994440" y="965256"/>
            <a:ext cx="2026222" cy="852526"/>
            <a:chOff x="8549640" y="935424"/>
            <a:chExt cx="2026222" cy="852525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F046432B-DABE-A01E-46B6-C55AAE8AF6D0}"/>
                </a:ext>
              </a:extLst>
            </p:cNvPr>
            <p:cNvSpPr/>
            <p:nvPr/>
          </p:nvSpPr>
          <p:spPr>
            <a:xfrm>
              <a:off x="8549640" y="935424"/>
              <a:ext cx="2020824" cy="640080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Climate reanalysis data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4B0D45A-CFE7-CF23-DD04-FB8892F244BC}"/>
                </a:ext>
              </a:extLst>
            </p:cNvPr>
            <p:cNvSpPr/>
            <p:nvPr/>
          </p:nvSpPr>
          <p:spPr>
            <a:xfrm>
              <a:off x="8555038" y="1572635"/>
              <a:ext cx="2020824" cy="215314"/>
            </a:xfrm>
            <a:prstGeom prst="rect">
              <a:avLst/>
            </a:prstGeom>
            <a:solidFill>
              <a:srgbClr val="9DD5EB"/>
            </a:solidFill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>
                      <a:lumMod val="50000"/>
                    </a:schemeClr>
                  </a:solidFill>
                </a:rPr>
                <a:t>ERA5-Land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82A856C-9631-A4FE-7E7F-9AE635B0A26B}"/>
              </a:ext>
            </a:extLst>
          </p:cNvPr>
          <p:cNvGrpSpPr/>
          <p:nvPr/>
        </p:nvGrpSpPr>
        <p:grpSpPr>
          <a:xfrm>
            <a:off x="128046" y="965257"/>
            <a:ext cx="1792226" cy="855394"/>
            <a:chOff x="1207008" y="935424"/>
            <a:chExt cx="1792225" cy="855394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9AB0FE9C-F0EE-4DD7-CE71-9C774957AB63}"/>
                </a:ext>
              </a:extLst>
            </p:cNvPr>
            <p:cNvSpPr/>
            <p:nvPr/>
          </p:nvSpPr>
          <p:spPr>
            <a:xfrm>
              <a:off x="1207008" y="935424"/>
              <a:ext cx="1792224" cy="640080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Weather station data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C738CA3A-15B8-0181-D876-505032D1274E}"/>
                </a:ext>
              </a:extLst>
            </p:cNvPr>
            <p:cNvSpPr/>
            <p:nvPr/>
          </p:nvSpPr>
          <p:spPr>
            <a:xfrm>
              <a:off x="1207699" y="1575504"/>
              <a:ext cx="1791534" cy="215314"/>
            </a:xfrm>
            <a:prstGeom prst="rect">
              <a:avLst/>
            </a:prstGeom>
            <a:solidFill>
              <a:srgbClr val="9DD5EB"/>
            </a:solidFill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>
                      <a:lumMod val="50000"/>
                    </a:schemeClr>
                  </a:solidFill>
                </a:rPr>
                <a:t>RIC station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E5E3DC1B-DFD5-EFA6-F995-CCF91A8993EF}"/>
              </a:ext>
            </a:extLst>
          </p:cNvPr>
          <p:cNvGrpSpPr/>
          <p:nvPr/>
        </p:nvGrpSpPr>
        <p:grpSpPr>
          <a:xfrm>
            <a:off x="3256205" y="950226"/>
            <a:ext cx="2612414" cy="857983"/>
            <a:chOff x="4996200" y="920388"/>
            <a:chExt cx="2396232" cy="857983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99053EB9-A038-27F7-54E8-CFBC6FC6B5A1}"/>
                </a:ext>
              </a:extLst>
            </p:cNvPr>
            <p:cNvSpPr/>
            <p:nvPr/>
          </p:nvSpPr>
          <p:spPr>
            <a:xfrm>
              <a:off x="4996207" y="920388"/>
              <a:ext cx="2396225" cy="640080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Daily counts of ED visits (all-causes)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0288F3F-A15B-9F91-3706-CCC3FF9E970A}"/>
                </a:ext>
              </a:extLst>
            </p:cNvPr>
            <p:cNvSpPr/>
            <p:nvPr/>
          </p:nvSpPr>
          <p:spPr>
            <a:xfrm>
              <a:off x="4996200" y="1563057"/>
              <a:ext cx="2396225" cy="215314"/>
            </a:xfrm>
            <a:prstGeom prst="rect">
              <a:avLst/>
            </a:prstGeom>
            <a:solidFill>
              <a:srgbClr val="9DD5EB"/>
            </a:solidFill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>
                      <a:lumMod val="50000"/>
                    </a:schemeClr>
                  </a:solidFill>
                </a:rPr>
                <a:t>APCD 2016-2022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A1A9E13-D266-DAD9-6988-11C347F948DF}"/>
              </a:ext>
            </a:extLst>
          </p:cNvPr>
          <p:cNvGrpSpPr/>
          <p:nvPr/>
        </p:nvGrpSpPr>
        <p:grpSpPr>
          <a:xfrm>
            <a:off x="1698422" y="2420656"/>
            <a:ext cx="5756621" cy="1554240"/>
            <a:chOff x="3230659" y="2083150"/>
            <a:chExt cx="5756621" cy="1554240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CED0BA07-87D8-C7C8-1F1E-ED5B561F978B}"/>
                </a:ext>
              </a:extLst>
            </p:cNvPr>
            <p:cNvGrpSpPr/>
            <p:nvPr/>
          </p:nvGrpSpPr>
          <p:grpSpPr>
            <a:xfrm>
              <a:off x="3230659" y="2083150"/>
              <a:ext cx="5756621" cy="1554240"/>
              <a:chOff x="3224812" y="2335460"/>
              <a:chExt cx="5756621" cy="1209520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CD8A16B8-DEC8-7DBB-F9BB-29F1049DDDFC}"/>
                  </a:ext>
                </a:extLst>
              </p:cNvPr>
              <p:cNvGrpSpPr/>
              <p:nvPr/>
            </p:nvGrpSpPr>
            <p:grpSpPr>
              <a:xfrm>
                <a:off x="3224812" y="2335460"/>
                <a:ext cx="5754596" cy="810632"/>
                <a:chOff x="3444268" y="2335460"/>
                <a:chExt cx="5543063" cy="810632"/>
              </a:xfrm>
            </p:grpSpPr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0698B6AB-17A3-3030-CD8D-3597F9AD90FA}"/>
                    </a:ext>
                  </a:extLst>
                </p:cNvPr>
                <p:cNvSpPr/>
                <p:nvPr/>
              </p:nvSpPr>
              <p:spPr>
                <a:xfrm>
                  <a:off x="3444269" y="2335460"/>
                  <a:ext cx="5543062" cy="498666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Estimate temperature – ED visit association</a:t>
                  </a:r>
                </a:p>
              </p:txBody>
            </p: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67032D8D-124D-B3AE-A372-5C0B2129C7E5}"/>
                    </a:ext>
                  </a:extLst>
                </p:cNvPr>
                <p:cNvSpPr/>
                <p:nvPr/>
              </p:nvSpPr>
              <p:spPr>
                <a:xfrm>
                  <a:off x="3444268" y="2834125"/>
                  <a:ext cx="5543061" cy="311967"/>
                </a:xfrm>
                <a:prstGeom prst="rect">
                  <a:avLst/>
                </a:prstGeom>
                <a:solidFill>
                  <a:srgbClr val="9DD5EB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Full Richmond MSA      ZCTAs     Counties/cities      Geographical clusters </a:t>
                  </a:r>
                </a:p>
              </p:txBody>
            </p:sp>
          </p:grp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40DDAA98-EEC0-990C-CDC4-B666BDE214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87058" y="2834126"/>
                <a:ext cx="0" cy="311966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D696512D-4EBA-4147-D14B-0710CB1CDE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60666" y="2831078"/>
                <a:ext cx="0" cy="315014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681F3010-00CE-5881-A469-393A0D533DA4}"/>
                  </a:ext>
                </a:extLst>
              </p:cNvPr>
              <p:cNvSpPr/>
              <p:nvPr/>
            </p:nvSpPr>
            <p:spPr>
              <a:xfrm>
                <a:off x="3224812" y="3146092"/>
                <a:ext cx="1762244" cy="398888"/>
              </a:xfrm>
              <a:prstGeom prst="rect">
                <a:avLst/>
              </a:prstGeom>
              <a:solidFill>
                <a:srgbClr val="D2ECF6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</a:rPr>
                  <a:t>Generalized additive model</a:t>
                </a:r>
                <a:r>
                  <a:rPr lang="ja-JP" altLang="en-US" sz="14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</a:rPr>
                  <a:t>(GAM)</a:t>
                </a: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C752FA08-ED76-9BCD-5850-996A82CC7A02}"/>
                  </a:ext>
                </a:extLst>
              </p:cNvPr>
              <p:cNvSpPr/>
              <p:nvPr/>
            </p:nvSpPr>
            <p:spPr>
              <a:xfrm>
                <a:off x="4998225" y="3145148"/>
                <a:ext cx="3983208" cy="399832"/>
              </a:xfrm>
              <a:prstGeom prst="rect">
                <a:avLst/>
              </a:prstGeom>
              <a:solidFill>
                <a:srgbClr val="D2ECF6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</a:rPr>
                  <a:t>Location-specific GAM → Meta-regression model</a:t>
                </a:r>
              </a:p>
            </p:txBody>
          </p:sp>
        </p:grp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8E90EE75-FD3B-9E97-E310-10D5DECFC2B5}"/>
                </a:ext>
              </a:extLst>
            </p:cNvPr>
            <p:cNvCxnSpPr>
              <a:cxnSpLocks/>
            </p:cNvCxnSpPr>
            <p:nvPr/>
          </p:nvCxnSpPr>
          <p:spPr>
            <a:xfrm>
              <a:off x="7023543" y="2720022"/>
              <a:ext cx="0" cy="404795"/>
            </a:xfrm>
            <a:prstGeom prst="line">
              <a:avLst/>
            </a:prstGeom>
            <a:ln w="285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4832F7B-A95F-96C5-6D81-9E509F4CDDFF}"/>
              </a:ext>
            </a:extLst>
          </p:cNvPr>
          <p:cNvGrpSpPr/>
          <p:nvPr/>
        </p:nvGrpSpPr>
        <p:grpSpPr>
          <a:xfrm>
            <a:off x="2434748" y="4472156"/>
            <a:ext cx="4334413" cy="948435"/>
            <a:chOff x="3931920" y="4310920"/>
            <a:chExt cx="4334413" cy="94843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D1C56D3-B879-FE02-9636-F115C029CA49}"/>
                </a:ext>
              </a:extLst>
            </p:cNvPr>
            <p:cNvSpPr/>
            <p:nvPr/>
          </p:nvSpPr>
          <p:spPr>
            <a:xfrm>
              <a:off x="3931920" y="4310920"/>
              <a:ext cx="4334412" cy="64008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Comparison of exposure-response curves</a:t>
              </a:r>
              <a:b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</a:br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(Relative risk)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A676C01-1776-19AE-4933-CCB107E11FBE}"/>
                </a:ext>
              </a:extLst>
            </p:cNvPr>
            <p:cNvSpPr/>
            <p:nvPr/>
          </p:nvSpPr>
          <p:spPr>
            <a:xfrm>
              <a:off x="3935481" y="4948459"/>
              <a:ext cx="2137410" cy="310896"/>
            </a:xfrm>
            <a:prstGeom prst="rect">
              <a:avLst/>
            </a:prstGeom>
            <a:solidFill>
              <a:srgbClr val="9DD5EB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>
                      <a:lumMod val="50000"/>
                    </a:schemeClr>
                  </a:solidFill>
                </a:rPr>
                <a:t>Location-specific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E03B923-2CB4-FD3D-2618-ED8A12A0D819}"/>
                </a:ext>
              </a:extLst>
            </p:cNvPr>
            <p:cNvSpPr/>
            <p:nvPr/>
          </p:nvSpPr>
          <p:spPr>
            <a:xfrm>
              <a:off x="6071991" y="4948459"/>
              <a:ext cx="2194342" cy="310896"/>
            </a:xfrm>
            <a:prstGeom prst="rect">
              <a:avLst/>
            </a:prstGeom>
            <a:solidFill>
              <a:srgbClr val="9DD5EB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>
                      <a:lumMod val="50000"/>
                    </a:schemeClr>
                  </a:solidFill>
                </a:rPr>
                <a:t>Pooled estimate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780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860</TotalTime>
  <Words>60</Words>
  <Application>Microsoft Office PowerPoint</Application>
  <PresentationFormat>Custom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Le-Huynh, Truc-Ly (qus7tm)</dc:creator>
  <cp:lastModifiedBy>Le-Huynh, Truc-Ly (qus7tm)</cp:lastModifiedBy>
  <cp:revision>59</cp:revision>
  <dcterms:created xsi:type="dcterms:W3CDTF">2025-03-17T18:39:57Z</dcterms:created>
  <dcterms:modified xsi:type="dcterms:W3CDTF">2025-10-16T15:22:56Z</dcterms:modified>
</cp:coreProperties>
</file>